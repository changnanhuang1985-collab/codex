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527" r:id="rId2"/>
    <p:sldId id="625" r:id="rId3"/>
  </p:sldIdLst>
  <p:sldSz cx="12192000" cy="6858000"/>
  <p:notesSz cx="6797675" cy="9928225"/>
  <p:custDataLst>
    <p:tags r:id="rId6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1400" b="1" kern="1200">
        <a:solidFill>
          <a:schemeClr val="tx1"/>
        </a:solidFill>
        <a:latin typeface="MS PGothic" panose="020B0600070205080204" pitchFamily="34" charset="-128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P全体の紹介" id="{E8FB1348-16F9-4029-B634-8083F7610DF1}">
          <p14:sldIdLst/>
        </p14:section>
        <p14:section name="会社概要" id="{073EFFE6-A6EF-463D-B5EF-2561F147C11E}">
          <p14:sldIdLst/>
        </p14:section>
        <p14:section name="BTPチーム体制" id="{2B6FEA6D-E2EA-47DB-8B92-FF048B9591AC}">
          <p14:sldIdLst>
            <p14:sldId id="1527"/>
            <p14:sldId id="625"/>
          </p14:sldIdLst>
        </p14:section>
        <p14:section name="開発実績" id="{F8799F93-9AC2-4E23-A425-38F4F2E14F16}">
          <p14:sldIdLst/>
        </p14:section>
        <p14:section name="開発プロセスと品質管理" id="{7968FBBA-C13B-4662-9136-6C04823BF293}">
          <p14:sldIdLst/>
        </p14:section>
        <p14:section name="事業展開アプローチ（案）" id="{84A75873-EAFE-4392-A14F-909C8CD3D98C}">
          <p14:sldIdLst/>
        </p14:section>
        <p14:section name="質問応答" id="{07D6AC25-9EDB-4B86-AC65-AD9BC681C5E7}">
          <p14:sldIdLst/>
        </p14:section>
        <p14:section name="Appendix" id="{D8319848-D41E-49AF-8932-A4E557248CD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21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Jianzhou" initials="L" lastIdx="1" clrIdx="0"/>
  <p:cmAuthor id="2" name="南 鞠" initials="南" lastIdx="1" clrIdx="1">
    <p:extLst>
      <p:ext uri="{19B8F6BF-5375-455C-9EA6-DF929625EA0E}">
        <p15:presenceInfo xmlns:p15="http://schemas.microsoft.com/office/powerpoint/2012/main" userId="60b7a2440267eba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E"/>
    <a:srgbClr val="FFFFCC"/>
    <a:srgbClr val="4373F4"/>
    <a:srgbClr val="0F42EF"/>
    <a:srgbClr val="FFFFFF"/>
    <a:srgbClr val="1C41AC"/>
    <a:srgbClr val="EAEFF6"/>
    <a:srgbClr val="E9EEF6"/>
    <a:srgbClr val="D3D8E0"/>
    <a:srgbClr val="F6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濃色スタイル 2 - アクセント 5/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濃色スタイル 1 - アクセント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91098" autoAdjust="0"/>
  </p:normalViewPr>
  <p:slideViewPr>
    <p:cSldViewPr>
      <p:cViewPr varScale="1">
        <p:scale>
          <a:sx n="143" d="100"/>
          <a:sy n="143" d="100"/>
        </p:scale>
        <p:origin x="1194" y="102"/>
      </p:cViewPr>
      <p:guideLst>
        <p:guide orient="horz" pos="2160"/>
        <p:guide pos="3794"/>
      </p:guideLst>
    </p:cSldViewPr>
  </p:slideViewPr>
  <p:outlineViewPr>
    <p:cViewPr>
      <p:scale>
        <a:sx n="33" d="100"/>
        <a:sy n="33" d="100"/>
      </p:scale>
      <p:origin x="0" y="-24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293" y="-82"/>
      </p:cViewPr>
      <p:guideLst>
        <p:guide orient="horz" pos="3131"/>
        <p:guide orient="horz" pos="3127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sz="900" dirty="0"/>
              <a:t>技術要員状況（</a:t>
            </a:r>
            <a:r>
              <a:rPr lang="en-US" altLang="zh-CN" sz="900" dirty="0"/>
              <a:t>Lv3</a:t>
            </a:r>
            <a:r>
              <a:rPr lang="zh-CN" altLang="en-US" sz="900" dirty="0"/>
              <a:t>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5647538267798458E-2"/>
          <c:y val="0.22073079740984561"/>
          <c:w val="0.90870492346440312"/>
          <c:h val="0.60995563660263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伊藤忠様向け部隊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CAP</c:v>
                </c:pt>
                <c:pt idx="1">
                  <c:v>RAP/ABAP</c:v>
                </c:pt>
                <c:pt idx="2">
                  <c:v>BPA</c:v>
                </c:pt>
                <c:pt idx="3">
                  <c:v>Fiori(UI5)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E6-4010-8375-53FAB14064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信華信全体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90000" rIns="90000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CAP</c:v>
                </c:pt>
                <c:pt idx="1">
                  <c:v>RAP/ABAP</c:v>
                </c:pt>
                <c:pt idx="2">
                  <c:v>BPA</c:v>
                </c:pt>
                <c:pt idx="3">
                  <c:v>Fiori(UI5)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E6-4010-8375-53FAB14064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25845008"/>
        <c:axId val="225846720"/>
      </c:barChart>
      <c:catAx>
        <c:axId val="22584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endParaRPr lang="ja-JP"/>
          </a:p>
        </c:txPr>
        <c:crossAx val="225846720"/>
        <c:crosses val="autoZero"/>
        <c:auto val="1"/>
        <c:lblAlgn val="ctr"/>
        <c:lblOffset val="100"/>
        <c:noMultiLvlLbl val="0"/>
      </c:catAx>
      <c:valAx>
        <c:axId val="22584672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2584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0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sz="900" dirty="0"/>
              <a:t>設計要員状況（</a:t>
            </a:r>
            <a:r>
              <a:rPr lang="en-US" altLang="zh-CN" sz="900" dirty="0"/>
              <a:t>Lv2</a:t>
            </a:r>
            <a:r>
              <a:rPr lang="zh-CN" altLang="en-US" sz="900" dirty="0"/>
              <a:t>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5647538267798458E-2"/>
          <c:y val="0.22073079740984561"/>
          <c:w val="0.90870492346440312"/>
          <c:h val="0.60995563660263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伊藤忠様向け部隊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要件定義</c:v>
                </c:pt>
                <c:pt idx="1">
                  <c:v>基本設計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53-44E5-B884-DA054AFFF1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信華信全体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90000" rIns="90000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要件定義</c:v>
                </c:pt>
                <c:pt idx="1">
                  <c:v>基本設計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15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53-44E5-B884-DA054AFFF1B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25845008"/>
        <c:axId val="225846720"/>
      </c:barChart>
      <c:catAx>
        <c:axId val="22584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endParaRPr lang="ja-JP"/>
          </a:p>
        </c:txPr>
        <c:crossAx val="225846720"/>
        <c:crosses val="autoZero"/>
        <c:auto val="1"/>
        <c:lblAlgn val="ctr"/>
        <c:lblOffset val="100"/>
        <c:noMultiLvlLbl val="0"/>
      </c:catAx>
      <c:valAx>
        <c:axId val="22584672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2584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0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dirty="0"/>
              <a:t>要員経験年数状況（伊藤忠）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要員数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321-4330-859B-7A31246E98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321-4330-859B-7A31246E98B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321-4330-859B-7A31246E98B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600" b="1" i="0" u="none" strike="noStrike" kern="1200" baseline="0">
                    <a:solidFill>
                      <a:schemeClr val="lt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10年以上</c:v>
                </c:pt>
                <c:pt idx="1">
                  <c:v>5年以上</c:v>
                </c:pt>
                <c:pt idx="2">
                  <c:v>2年以上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21-4330-859B-7A31246E98B4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5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sz="900" dirty="0"/>
              <a:t>技術要員状況（</a:t>
            </a:r>
            <a:r>
              <a:rPr lang="en-US" altLang="zh-CN" sz="900" dirty="0"/>
              <a:t>Lv2</a:t>
            </a:r>
            <a:r>
              <a:rPr lang="zh-CN" altLang="en-US" sz="900" dirty="0"/>
              <a:t>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5647538267798458E-2"/>
          <c:y val="0.22073079740984561"/>
          <c:w val="0.90870492346440312"/>
          <c:h val="0.60995563660263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伊藤忠様向け部隊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CPI</c:v>
                </c:pt>
                <c:pt idx="1">
                  <c:v>API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9-2643-88E2-0C68021D04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信華信全体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90000" rIns="90000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CPI</c:v>
                </c:pt>
                <c:pt idx="1">
                  <c:v>API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6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89-2643-88E2-0C68021D047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25845008"/>
        <c:axId val="225846720"/>
      </c:barChart>
      <c:catAx>
        <c:axId val="22584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endParaRPr lang="ja-JP"/>
          </a:p>
        </c:txPr>
        <c:crossAx val="225846720"/>
        <c:crosses val="autoZero"/>
        <c:auto val="1"/>
        <c:lblAlgn val="ctr"/>
        <c:lblOffset val="100"/>
        <c:noMultiLvlLbl val="0"/>
      </c:catAx>
      <c:valAx>
        <c:axId val="22584672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2584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0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sz="900" dirty="0"/>
              <a:t>設計要員状況（</a:t>
            </a:r>
            <a:r>
              <a:rPr lang="en-US" altLang="zh-CN" sz="900" dirty="0"/>
              <a:t>Lv2</a:t>
            </a:r>
            <a:r>
              <a:rPr lang="zh-CN" altLang="en-US" sz="900" dirty="0"/>
              <a:t>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5647538267798458E-2"/>
          <c:y val="0.22073079740984561"/>
          <c:w val="0.90870492346440312"/>
          <c:h val="0.60995563660263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伊藤忠様向け部隊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要件定義</c:v>
                </c:pt>
                <c:pt idx="1">
                  <c:v>基本設計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C-4B13-9431-86F53CD71E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信華信全体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90000" rIns="90000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要件定義</c:v>
                </c:pt>
                <c:pt idx="1">
                  <c:v>基本設計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15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CC-4B13-9431-86F53CD71E8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25845008"/>
        <c:axId val="225846720"/>
      </c:barChart>
      <c:catAx>
        <c:axId val="22584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endParaRPr lang="ja-JP"/>
          </a:p>
        </c:txPr>
        <c:crossAx val="225846720"/>
        <c:crosses val="autoZero"/>
        <c:auto val="1"/>
        <c:lblAlgn val="ctr"/>
        <c:lblOffset val="100"/>
        <c:noMultiLvlLbl val="0"/>
      </c:catAx>
      <c:valAx>
        <c:axId val="22584672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2584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0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9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pPr>
            <a:r>
              <a:rPr lang="zh-CN" altLang="en-US" dirty="0"/>
              <a:t>要員経験年数状況（伊藤忠）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要員数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3B8-4E30-A4D4-E92D54362A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3B8-4E30-A4D4-E92D54362A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3B8-4E30-A4D4-E92D54362AD6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600" b="1" i="0" u="none" strike="noStrike" kern="1200" baseline="0">
                    <a:solidFill>
                      <a:schemeClr val="lt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10年以上</c:v>
                </c:pt>
                <c:pt idx="1">
                  <c:v>5年以上</c:v>
                </c:pt>
                <c:pt idx="2">
                  <c:v>2年以上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B8-4E30-A4D4-E92D54362AD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50">
          <a:latin typeface="Meiryo UI" panose="020B0604030504040204" pitchFamily="34" charset="-128"/>
          <a:ea typeface="Meiryo UI" panose="020B0604030504040204" pitchFamily="34" charset="-128"/>
        </a:defRPr>
      </a:pPr>
      <a:endParaRPr lang="ja-JP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t" anchorCtr="0" compatLnSpc="1"/>
          <a:lstStyle>
            <a:lvl1pPr algn="l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55" y="0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t" anchorCtr="0" compatLnSpc="1"/>
          <a:lstStyle>
            <a:lvl1pPr algn="r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721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b" anchorCtr="0" compatLnSpc="1"/>
          <a:lstStyle>
            <a:lvl1pPr algn="l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ja-JP" dirty="0"/>
              <a:t>&amp;page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55" y="9428721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b" anchorCtr="0" compatLnSpc="1"/>
          <a:lstStyle>
            <a:lvl1pPr algn="r" defTabSz="881380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CB7BC2E4-205B-4E43-ADE5-60A91DFE7542}" type="slidenum">
              <a:rPr lang="en-US" altLang="ja-JP"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t" anchorCtr="0" compatLnSpc="1"/>
          <a:lstStyle>
            <a:lvl1pPr algn="l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955" y="0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t" anchorCtr="0" compatLnSpc="1"/>
          <a:lstStyle>
            <a:lvl1pPr algn="r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4" y="4715946"/>
            <a:ext cx="5437188" cy="44669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721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b" anchorCtr="0" compatLnSpc="1"/>
          <a:lstStyle>
            <a:lvl1pPr algn="l" defTabSz="881380" eaLnBrk="1" hangingPunct="1">
              <a:defRPr sz="1200" b="0">
                <a:effectLst/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ja-JP" dirty="0"/>
              <a:t>&amp;page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955" y="9428721"/>
            <a:ext cx="2946135" cy="4979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6" tIns="45718" rIns="91436" bIns="45718" numCol="1" anchor="b" anchorCtr="0" compatLnSpc="1"/>
          <a:lstStyle>
            <a:lvl1pPr algn="r" defTabSz="881380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91388B71-9EE5-4981-AEA8-F86007FA9964}" type="slidenum">
              <a:rPr lang="en-US" altLang="ja-JP"/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BTP</a:t>
            </a:r>
            <a:r>
              <a:rPr lang="ja-JP" altLang="en-US" dirty="0"/>
              <a:t>能力について説明します。</a:t>
            </a:r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まず能力成熟度ですが、技術能力はすでに</a:t>
            </a:r>
            <a:r>
              <a:rPr lang="en-US" altLang="ja-JP" dirty="0"/>
              <a:t>Level3</a:t>
            </a:r>
            <a:r>
              <a:rPr lang="ja-JP" altLang="en-US" dirty="0"/>
              <a:t>（設計・実装）に到達しており、現在</a:t>
            </a:r>
            <a:r>
              <a:rPr lang="en-US" altLang="ja-JP" dirty="0"/>
              <a:t>Level4</a:t>
            </a:r>
            <a:r>
              <a:rPr lang="ja-JP" altLang="en-US" dirty="0"/>
              <a:t>（提案）に向けて強化を進めています。</a:t>
            </a:r>
            <a:endParaRPr lang="en-US" altLang="ja-JP" dirty="0"/>
          </a:p>
          <a:p>
            <a:br>
              <a:rPr lang="ja-JP" altLang="en-US" dirty="0"/>
            </a:br>
            <a:r>
              <a:rPr lang="ja-JP" altLang="en-US" dirty="0"/>
              <a:t>工程・業務能力については現在</a:t>
            </a:r>
            <a:r>
              <a:rPr lang="en-US" altLang="ja-JP" dirty="0"/>
              <a:t>Level2</a:t>
            </a:r>
            <a:r>
              <a:rPr lang="ja-JP" altLang="en-US" dirty="0"/>
              <a:t>（設計と結合テストがメイン）の段階で、</a:t>
            </a:r>
            <a:r>
              <a:rPr lang="en-US" altLang="ja-JP" dirty="0"/>
              <a:t>Level3</a:t>
            </a:r>
            <a:r>
              <a:rPr lang="ja-JP" altLang="en-US" dirty="0"/>
              <a:t>（要件定義主導）に向けて体制とプロセスの整備を進めています。</a:t>
            </a:r>
            <a:endParaRPr lang="en-US" altLang="ja-JP" dirty="0"/>
          </a:p>
          <a:p>
            <a:br>
              <a:rPr lang="ja-JP" altLang="en-US" dirty="0"/>
            </a:br>
            <a:r>
              <a:rPr lang="ja-JP" altLang="en-US" dirty="0"/>
              <a:t>また、標準化能力についても</a:t>
            </a:r>
            <a:r>
              <a:rPr lang="en-US" altLang="ja-JP" dirty="0"/>
              <a:t>Level3</a:t>
            </a:r>
            <a:r>
              <a:rPr lang="ja-JP" altLang="en-US" dirty="0"/>
              <a:t>（標準化、ドキュメント化、要員育成）に到達しており、</a:t>
            </a:r>
            <a:endParaRPr lang="en-US" altLang="ja-JP" dirty="0"/>
          </a:p>
          <a:p>
            <a:r>
              <a:rPr lang="ja-JP" altLang="en-US" dirty="0"/>
              <a:t>現在は</a:t>
            </a:r>
            <a:r>
              <a:rPr lang="en-US" altLang="ja-JP" dirty="0"/>
              <a:t>Level4</a:t>
            </a:r>
            <a:r>
              <a:rPr lang="ja-JP" altLang="en-US" dirty="0"/>
              <a:t>（</a:t>
            </a:r>
            <a:r>
              <a:rPr lang="en-US" altLang="ja-JP" dirty="0"/>
              <a:t>Activate</a:t>
            </a:r>
            <a:r>
              <a:rPr lang="ja-JP" altLang="en-US" dirty="0"/>
              <a:t>方法論が組織内に定着、共通部品の開発）に向けた標準化の強化を進めています。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ーーー</a:t>
            </a:r>
          </a:p>
          <a:p>
            <a:r>
              <a:rPr lang="ja-JP" altLang="en-US" dirty="0"/>
              <a:t>次に技術要員の構成状況です。</a:t>
            </a:r>
            <a:endParaRPr lang="en-US" altLang="ja-JP" dirty="0"/>
          </a:p>
          <a:p>
            <a:r>
              <a:rPr lang="ja-JP" altLang="en-US" dirty="0"/>
              <a:t>青が伊藤忠様向けのチーム状況であり、赤のが信華信全体になっております。</a:t>
            </a:r>
            <a:endParaRPr lang="en-US" altLang="ja-JP" dirty="0"/>
          </a:p>
          <a:p>
            <a:br>
              <a:rPr lang="ja-JP" altLang="en-US" dirty="0"/>
            </a:br>
            <a:r>
              <a:rPr lang="en-US" altLang="ja-JP" dirty="0"/>
              <a:t>CAP</a:t>
            </a:r>
            <a:r>
              <a:rPr lang="ja-JP" altLang="en-US" dirty="0"/>
              <a:t>開発については現在</a:t>
            </a:r>
            <a:r>
              <a:rPr lang="en-US" altLang="ja-JP" dirty="0"/>
              <a:t>5</a:t>
            </a:r>
            <a:r>
              <a:rPr lang="ja-JP" altLang="en-US" dirty="0"/>
              <a:t>名が対応可能で、会社全体では約</a:t>
            </a:r>
            <a:r>
              <a:rPr lang="en-US" altLang="ja-JP" dirty="0"/>
              <a:t>20</a:t>
            </a:r>
            <a:r>
              <a:rPr lang="ja-JP" altLang="en-US" dirty="0"/>
              <a:t>名の支援体制があります。</a:t>
            </a:r>
            <a:br>
              <a:rPr lang="ja-JP" altLang="en-US" dirty="0"/>
            </a:br>
            <a:r>
              <a:rPr lang="en-US" altLang="ja-JP" dirty="0"/>
              <a:t>RAP</a:t>
            </a:r>
            <a:r>
              <a:rPr lang="ja-JP" altLang="en-US" dirty="0"/>
              <a:t>および</a:t>
            </a:r>
            <a:r>
              <a:rPr lang="en-US" altLang="ja-JP" dirty="0"/>
              <a:t>ABAP</a:t>
            </a:r>
            <a:r>
              <a:rPr lang="ja-JP" altLang="en-US" dirty="0"/>
              <a:t>については、</a:t>
            </a:r>
            <a:r>
              <a:rPr lang="en-US" altLang="ja-JP" dirty="0"/>
              <a:t>OData API</a:t>
            </a:r>
            <a:r>
              <a:rPr lang="ja-JP" altLang="en-US" dirty="0"/>
              <a:t>サービス開発に対応できるメンバーが</a:t>
            </a:r>
            <a:r>
              <a:rPr lang="en-US" altLang="ja-JP" dirty="0"/>
              <a:t>2</a:t>
            </a:r>
            <a:r>
              <a:rPr lang="ja-JP" altLang="en-US" dirty="0"/>
              <a:t>名おり、会社全体では</a:t>
            </a:r>
            <a:r>
              <a:rPr lang="en-US" altLang="ja-JP" dirty="0"/>
              <a:t>35</a:t>
            </a:r>
            <a:r>
              <a:rPr lang="ja-JP" altLang="en-US" dirty="0"/>
              <a:t>名以上が対応可能です。</a:t>
            </a:r>
            <a:endParaRPr lang="en-US" altLang="ja-JP" dirty="0"/>
          </a:p>
          <a:p>
            <a:br>
              <a:rPr lang="ja-JP" altLang="en-US" dirty="0"/>
            </a:br>
            <a:r>
              <a:rPr lang="en-US" altLang="ja-JP" dirty="0"/>
              <a:t>BPA</a:t>
            </a:r>
            <a:r>
              <a:rPr lang="ja-JP" altLang="en-US" dirty="0"/>
              <a:t>は</a:t>
            </a:r>
            <a:r>
              <a:rPr lang="en-US" altLang="ja-JP" dirty="0"/>
              <a:t>3</a:t>
            </a:r>
            <a:r>
              <a:rPr lang="ja-JP" altLang="en-US" dirty="0"/>
              <a:t>名、会社全体では</a:t>
            </a:r>
            <a:r>
              <a:rPr lang="en-US" altLang="ja-JP" dirty="0"/>
              <a:t>10</a:t>
            </a:r>
            <a:r>
              <a:rPr lang="ja-JP" altLang="en-US" dirty="0"/>
              <a:t>名の支援体制があります。</a:t>
            </a:r>
            <a:br>
              <a:rPr lang="ja-JP" altLang="en-US" dirty="0"/>
            </a:br>
            <a:r>
              <a:rPr lang="en-US" altLang="ja-JP" dirty="0"/>
              <a:t>Fiori/UI5</a:t>
            </a:r>
            <a:r>
              <a:rPr lang="ja-JP" altLang="en-US" dirty="0"/>
              <a:t>については</a:t>
            </a:r>
            <a:r>
              <a:rPr lang="en-US" altLang="ja-JP" dirty="0"/>
              <a:t>5</a:t>
            </a:r>
            <a:r>
              <a:rPr lang="ja-JP" altLang="en-US" dirty="0"/>
              <a:t>名が対応可能で、会社全体では</a:t>
            </a:r>
            <a:r>
              <a:rPr lang="en-US" altLang="ja-JP" dirty="0"/>
              <a:t>20</a:t>
            </a:r>
            <a:r>
              <a:rPr lang="ja-JP" altLang="en-US" dirty="0"/>
              <a:t>名の支援体制があります。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ーーーー</a:t>
            </a:r>
          </a:p>
          <a:p>
            <a:r>
              <a:rPr lang="ja-JP" altLang="en-US" dirty="0"/>
              <a:t>設計要員については、要件定義が可能なメンバーが</a:t>
            </a:r>
            <a:r>
              <a:rPr lang="en-US" altLang="ja-JP" dirty="0"/>
              <a:t>7</a:t>
            </a:r>
            <a:r>
              <a:rPr lang="ja-JP" altLang="en-US" dirty="0"/>
              <a:t>名、</a:t>
            </a:r>
            <a:endParaRPr lang="en-US" altLang="ja-JP" dirty="0"/>
          </a:p>
          <a:p>
            <a:r>
              <a:rPr lang="ja-JP" altLang="en-US" dirty="0"/>
              <a:t>基本設計が可能なメンバーが</a:t>
            </a:r>
            <a:r>
              <a:rPr lang="en-US" altLang="ja-JP" dirty="0"/>
              <a:t>12</a:t>
            </a:r>
            <a:r>
              <a:rPr lang="ja-JP" altLang="en-US" dirty="0"/>
              <a:t>名となっています。</a:t>
            </a:r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また要員の経験年数については、</a:t>
            </a:r>
            <a:r>
              <a:rPr lang="en-US" altLang="ja-JP" dirty="0"/>
              <a:t>5</a:t>
            </a:r>
            <a:r>
              <a:rPr lang="ja-JP" altLang="en-US" dirty="0"/>
              <a:t>年以上の経験者が</a:t>
            </a:r>
            <a:r>
              <a:rPr lang="en-US" altLang="ja-JP" dirty="0"/>
              <a:t>67</a:t>
            </a:r>
            <a:r>
              <a:rPr lang="ja-JP" altLang="en-US" dirty="0"/>
              <a:t>％と最も多く、</a:t>
            </a:r>
            <a:endParaRPr lang="en-US" altLang="ja-JP" dirty="0"/>
          </a:p>
          <a:p>
            <a:r>
              <a:rPr lang="en-US" altLang="ja-JP" dirty="0"/>
              <a:t>10</a:t>
            </a:r>
            <a:r>
              <a:rPr lang="ja-JP" altLang="en-US" dirty="0"/>
              <a:t>年以上の経験者が</a:t>
            </a:r>
            <a:r>
              <a:rPr lang="en-US" altLang="ja-JP" dirty="0"/>
              <a:t>16</a:t>
            </a:r>
            <a:r>
              <a:rPr lang="ja-JP" altLang="en-US" dirty="0"/>
              <a:t>％、残りの</a:t>
            </a:r>
            <a:r>
              <a:rPr lang="en-US" altLang="ja-JP" dirty="0"/>
              <a:t>17</a:t>
            </a:r>
            <a:r>
              <a:rPr lang="ja-JP" altLang="en-US" dirty="0"/>
              <a:t>％も</a:t>
            </a:r>
            <a:r>
              <a:rPr lang="en-US" altLang="ja-JP" dirty="0"/>
              <a:t>2</a:t>
            </a:r>
            <a:r>
              <a:rPr lang="ja-JP" altLang="en-US" dirty="0"/>
              <a:t>年以上の経験を持っています。</a:t>
            </a:r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このように、開発スキルだけでなく、設計能力や経験面でも安定した体制を構築しています。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88B71-9EE5-4981-AEA8-F86007FA9964}" type="slidenum">
              <a:rPr lang="en-US" altLang="ja-JP" smtClean="0"/>
              <a:t>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02438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Integration Suite</a:t>
            </a:r>
            <a:r>
              <a:rPr lang="ja-JP" altLang="en-US" dirty="0"/>
              <a:t>関連能力について説明します。</a:t>
            </a:r>
          </a:p>
          <a:p>
            <a:r>
              <a:rPr lang="ja-JP" altLang="en-US" dirty="0"/>
              <a:t>まず能力成熟度ですが、技術能力は現在</a:t>
            </a:r>
            <a:r>
              <a:rPr lang="en-US" altLang="ja-JP" dirty="0"/>
              <a:t>Level3</a:t>
            </a:r>
            <a:r>
              <a:rPr lang="ja-JP" altLang="en-US" dirty="0"/>
              <a:t>に到達しており、</a:t>
            </a:r>
            <a:r>
              <a:rPr lang="en-US" altLang="ja-JP" dirty="0"/>
              <a:t>Level4</a:t>
            </a:r>
            <a:r>
              <a:rPr lang="ja-JP" altLang="en-US" dirty="0"/>
              <a:t>に向けて能力強化を進めています。</a:t>
            </a:r>
            <a:br>
              <a:rPr lang="ja-JP" altLang="en-US" dirty="0"/>
            </a:br>
            <a:r>
              <a:rPr lang="ja-JP" altLang="en-US" dirty="0"/>
              <a:t>工程・業務能力については現在</a:t>
            </a:r>
            <a:r>
              <a:rPr lang="en-US" altLang="ja-JP" dirty="0"/>
              <a:t>Level2</a:t>
            </a:r>
            <a:r>
              <a:rPr lang="ja-JP" altLang="en-US" dirty="0"/>
              <a:t>で、</a:t>
            </a:r>
            <a:r>
              <a:rPr lang="en-US" altLang="ja-JP" dirty="0"/>
              <a:t>Level3</a:t>
            </a:r>
            <a:r>
              <a:rPr lang="ja-JP" altLang="en-US" dirty="0"/>
              <a:t>に向けたプロセス整備を進めています。</a:t>
            </a:r>
            <a:br>
              <a:rPr lang="ja-JP" altLang="en-US" dirty="0"/>
            </a:br>
            <a:r>
              <a:rPr lang="ja-JP" altLang="en-US" dirty="0"/>
              <a:t>また標準化についても現在</a:t>
            </a:r>
            <a:r>
              <a:rPr lang="en-US" altLang="ja-JP" dirty="0"/>
              <a:t>Level2</a:t>
            </a:r>
            <a:r>
              <a:rPr lang="ja-JP" altLang="en-US" dirty="0"/>
              <a:t>で、組織レベルでの標準化を進めている段階です。</a:t>
            </a:r>
          </a:p>
          <a:p>
            <a:r>
              <a:rPr lang="ja-JP" altLang="en-US" dirty="0"/>
              <a:t>技術要員については、</a:t>
            </a:r>
            <a:r>
              <a:rPr lang="en-US" altLang="ja-JP" dirty="0"/>
              <a:t>CPI</a:t>
            </a:r>
            <a:r>
              <a:rPr lang="ja-JP" altLang="en-US" dirty="0"/>
              <a:t>は現在</a:t>
            </a:r>
            <a:r>
              <a:rPr lang="en-US" altLang="ja-JP" dirty="0"/>
              <a:t>3</a:t>
            </a:r>
            <a:r>
              <a:rPr lang="ja-JP" altLang="en-US" dirty="0"/>
              <a:t>名が対応可能で、会社全体では</a:t>
            </a:r>
            <a:r>
              <a:rPr lang="en-US" altLang="ja-JP" dirty="0"/>
              <a:t>6</a:t>
            </a:r>
            <a:r>
              <a:rPr lang="ja-JP" altLang="en-US" dirty="0"/>
              <a:t>名の支援体制があります。</a:t>
            </a:r>
            <a:br>
              <a:rPr lang="ja-JP" altLang="en-US" dirty="0"/>
            </a:br>
            <a:r>
              <a:rPr lang="en-US" altLang="ja-JP" dirty="0"/>
              <a:t>API</a:t>
            </a:r>
            <a:r>
              <a:rPr lang="ja-JP" altLang="en-US" dirty="0"/>
              <a:t>領域については</a:t>
            </a:r>
            <a:r>
              <a:rPr lang="en-US" altLang="ja-JP" dirty="0"/>
              <a:t>3</a:t>
            </a:r>
            <a:r>
              <a:rPr lang="ja-JP" altLang="en-US" dirty="0"/>
              <a:t>名が対応可能で、会社全体では</a:t>
            </a:r>
            <a:r>
              <a:rPr lang="en-US" altLang="ja-JP" dirty="0"/>
              <a:t>7</a:t>
            </a:r>
            <a:r>
              <a:rPr lang="ja-JP" altLang="en-US" dirty="0"/>
              <a:t>名の支援体制があります。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88B71-9EE5-4981-AEA8-F86007FA9964}" type="slidenum">
              <a:rPr lang="en-US" altLang="ja-JP" smtClean="0"/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2467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8045" y="26882"/>
            <a:ext cx="5713006" cy="50905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769" y="1236508"/>
            <a:ext cx="10972464" cy="4888987"/>
          </a:xfrm>
          <a:prstGeom prst="rect">
            <a:avLst/>
          </a:prstGeom>
        </p:spPr>
        <p:txBody>
          <a:bodyPr/>
          <a:lstStyle>
            <a:lvl1pPr>
              <a:defRPr sz="2540"/>
            </a:lvl1pPr>
            <a:lvl2pPr>
              <a:defRPr sz="2540"/>
            </a:lvl2pPr>
            <a:lvl3pPr>
              <a:defRPr sz="2115"/>
            </a:lvl3pPr>
            <a:lvl4pPr>
              <a:defRPr sz="2115"/>
            </a:lvl4pPr>
            <a:lvl5pPr>
              <a:defRPr sz="190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8770243" y="6604311"/>
            <a:ext cx="2843905" cy="215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622B5-44CD-42DA-B00C-DDB10254B2B8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8770243" y="6604311"/>
            <a:ext cx="2843905" cy="215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02D64-9A86-452C-A0FC-7ED77236748B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245238"/>
          </a:xfrm>
          <a:prstGeom prst="rect">
            <a:avLst/>
          </a:prstGeom>
        </p:spPr>
      </p:pic>
      <p:sp>
        <p:nvSpPr>
          <p:cNvPr id="10" name="平行四辺形 2"/>
          <p:cNvSpPr/>
          <p:nvPr userDrawn="1"/>
        </p:nvSpPr>
        <p:spPr>
          <a:xfrm>
            <a:off x="297358" y="94272"/>
            <a:ext cx="349184" cy="619400"/>
          </a:xfrm>
          <a:prstGeom prst="parallelogram">
            <a:avLst>
              <a:gd name="adj" fmla="val 51688"/>
            </a:avLst>
          </a:prstGeom>
          <a:solidFill>
            <a:srgbClr val="1C41A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82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542" y="149211"/>
            <a:ext cx="9869362" cy="47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zh-CN" altLang="en-US" sz="2963" b="1">
                <a:solidFill>
                  <a:srgbClr val="1C41AC"/>
                </a:solidFill>
                <a:latin typeface="Meiryo UI" pitchFamily="34" charset="-128"/>
                <a:ea typeface="Meiryo UI" pitchFamily="34" charset="-128"/>
                <a:cs typeface="Meiryo UI" pitchFamily="34" charset="-128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15" name="図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762" y="164613"/>
            <a:ext cx="1311412" cy="442603"/>
          </a:xfrm>
          <a:prstGeom prst="rect">
            <a:avLst/>
          </a:prstGeom>
        </p:spPr>
      </p:pic>
      <p:sp>
        <p:nvSpPr>
          <p:cNvPr id="11" name="正方形/長方形 10"/>
          <p:cNvSpPr/>
          <p:nvPr userDrawn="1"/>
        </p:nvSpPr>
        <p:spPr>
          <a:xfrm>
            <a:off x="11049341" y="549265"/>
            <a:ext cx="947834" cy="25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1" hangingPunct="1"/>
            <a:r>
              <a:rPr lang="en-US" altLang="ja-JP" sz="1058" b="1" i="1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confidential</a:t>
            </a:r>
            <a:endParaRPr lang="ja-JP" altLang="en-US" sz="1058" b="1" i="1" dirty="0">
              <a:solidFill>
                <a:srgbClr val="FF0000"/>
              </a:solidFill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16" name="组合 7">
            <a:extLst>
              <a:ext uri="{FF2B5EF4-FFF2-40B4-BE49-F238E27FC236}">
                <a16:creationId xmlns:a16="http://schemas.microsoft.com/office/drawing/2014/main" id="{779762BA-B95C-4771-8695-68D0B764720C}"/>
              </a:ext>
            </a:extLst>
          </p:cNvPr>
          <p:cNvGrpSpPr/>
          <p:nvPr userDrawn="1"/>
        </p:nvGrpSpPr>
        <p:grpSpPr>
          <a:xfrm>
            <a:off x="0" y="6684444"/>
            <a:ext cx="10515904" cy="206339"/>
            <a:chOff x="-1" y="6282000"/>
            <a:chExt cx="9938079" cy="194971"/>
          </a:xfrm>
          <a:solidFill>
            <a:srgbClr val="151DBA"/>
          </a:solidFill>
        </p:grpSpPr>
        <p:sp>
          <p:nvSpPr>
            <p:cNvPr id="17" name="矩形 8">
              <a:extLst>
                <a:ext uri="{FF2B5EF4-FFF2-40B4-BE49-F238E27FC236}">
                  <a16:creationId xmlns:a16="http://schemas.microsoft.com/office/drawing/2014/main" id="{AD85A59D-0D93-4F5F-A40A-B3E0E9BA335F}"/>
                </a:ext>
              </a:extLst>
            </p:cNvPr>
            <p:cNvSpPr/>
            <p:nvPr userDrawn="1"/>
          </p:nvSpPr>
          <p:spPr>
            <a:xfrm>
              <a:off x="-1" y="6318176"/>
              <a:ext cx="9938079" cy="127819"/>
            </a:xfrm>
            <a:prstGeom prst="rect">
              <a:avLst/>
            </a:prstGeom>
            <a:solidFill>
              <a:srgbClr val="8996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55"/>
            </a:p>
          </p:txBody>
        </p:sp>
        <p:sp>
          <p:nvSpPr>
            <p:cNvPr id="18" name="矩形 9">
              <a:extLst>
                <a:ext uri="{FF2B5EF4-FFF2-40B4-BE49-F238E27FC236}">
                  <a16:creationId xmlns:a16="http://schemas.microsoft.com/office/drawing/2014/main" id="{680D3562-79D0-4125-8FB5-F30AF1F8C3C9}"/>
                </a:ext>
              </a:extLst>
            </p:cNvPr>
            <p:cNvSpPr/>
            <p:nvPr/>
          </p:nvSpPr>
          <p:spPr>
            <a:xfrm>
              <a:off x="505714" y="6282000"/>
              <a:ext cx="5759450" cy="1949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ja-JP" sz="740" b="0" i="1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Copyright © 2026 Hi-Think  Technology, Corp. All Rights Reserved. </a:t>
              </a:r>
              <a:endParaRPr lang="zh-CN" altLang="en-US" sz="740" b="0" i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9" name="矩形 10">
            <a:extLst>
              <a:ext uri="{FF2B5EF4-FFF2-40B4-BE49-F238E27FC236}">
                <a16:creationId xmlns:a16="http://schemas.microsoft.com/office/drawing/2014/main" id="{0C6E5F24-E30F-43D7-BF51-5276E19344FD}"/>
              </a:ext>
            </a:extLst>
          </p:cNvPr>
          <p:cNvSpPr/>
          <p:nvPr userDrawn="1"/>
        </p:nvSpPr>
        <p:spPr>
          <a:xfrm>
            <a:off x="10515904" y="6722728"/>
            <a:ext cx="1676096" cy="135272"/>
          </a:xfrm>
          <a:prstGeom prst="rect">
            <a:avLst/>
          </a:prstGeom>
          <a:solidFill>
            <a:srgbClr val="0F4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55"/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CC93E008-C5CE-45E4-896E-DE613030F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12735" y="6669360"/>
            <a:ext cx="2843905" cy="215048"/>
          </a:xfrm>
          <a:prstGeom prst="rect">
            <a:avLst/>
          </a:prstGeom>
        </p:spPr>
        <p:txBody>
          <a:bodyPr/>
          <a:lstStyle>
            <a:lvl1pPr algn="r">
              <a:defRPr sz="1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9802D64-9A86-452C-A0FC-7ED77236748B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52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F029A5-5CF8-65C9-47D5-07EAB1F5CDD0}"/>
              </a:ext>
            </a:extLst>
          </p:cNvPr>
          <p:cNvSpPr/>
          <p:nvPr userDrawn="1"/>
        </p:nvSpPr>
        <p:spPr>
          <a:xfrm rot="10800000">
            <a:off x="-2" y="6679141"/>
            <a:ext cx="12192000" cy="178857"/>
          </a:xfrm>
          <a:prstGeom prst="rect">
            <a:avLst/>
          </a:prstGeom>
          <a:gradFill>
            <a:gsLst>
              <a:gs pos="100000">
                <a:srgbClr val="0160BF"/>
              </a:gs>
              <a:gs pos="0">
                <a:srgbClr val="0070C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312" dirty="0">
              <a:highlight>
                <a:srgbClr val="B3EBFF"/>
              </a:highlight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0321" cy="914188"/>
          </a:xfrm>
          <a:prstGeom prst="rect">
            <a:avLst/>
          </a:prstGeom>
        </p:spPr>
      </p:pic>
      <p:sp>
        <p:nvSpPr>
          <p:cNvPr id="4" name="矩形 7">
            <a:extLst>
              <a:ext uri="{FF2B5EF4-FFF2-40B4-BE49-F238E27FC236}">
                <a16:creationId xmlns:a16="http://schemas.microsoft.com/office/drawing/2014/main" id="{B16D06DC-1CC2-BD53-5AA8-5EBA95F72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109" y="6679142"/>
            <a:ext cx="4955359" cy="22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黑体" pitchFamily="49" charset="-122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847" b="0" i="1" kern="1200" dirty="0">
                <a:solidFill>
                  <a:schemeClr val="bg1"/>
                </a:solidFill>
                <a:latin typeface="Arial" pitchFamily="34" charset="0"/>
                <a:ea typeface="黑体" pitchFamily="49" charset="-122"/>
                <a:cs typeface="+mn-cs"/>
              </a:rPr>
              <a:t>© 2026 Hi-Think Technology, Corp. or its affiliated companies. All Rights Reserved.</a:t>
            </a:r>
            <a:endParaRPr lang="zh-CN" altLang="en-US" sz="847" b="0" i="1" kern="1200" dirty="0">
              <a:solidFill>
                <a:schemeClr val="bg1"/>
              </a:solidFill>
              <a:latin typeface="Arial" pitchFamily="34" charset="0"/>
              <a:ea typeface="黑体" pitchFamily="49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E4B7BA-069A-81DE-FA8F-ECD8879C8B92}"/>
              </a:ext>
            </a:extLst>
          </p:cNvPr>
          <p:cNvSpPr/>
          <p:nvPr userDrawn="1"/>
        </p:nvSpPr>
        <p:spPr>
          <a:xfrm rot="10800000">
            <a:off x="-1" y="0"/>
            <a:ext cx="229006" cy="551621"/>
          </a:xfrm>
          <a:prstGeom prst="rect">
            <a:avLst/>
          </a:prstGeom>
          <a:gradFill>
            <a:gsLst>
              <a:gs pos="100000">
                <a:srgbClr val="0160BF"/>
              </a:gs>
              <a:gs pos="0">
                <a:srgbClr val="027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9312" dirty="0">
              <a:highlight>
                <a:srgbClr val="B3EBFF"/>
              </a:highlight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BF9BD51-DCE8-BC1A-89A3-7BC10130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99" y="75918"/>
            <a:ext cx="5713006" cy="509058"/>
          </a:xfrm>
          <a:prstGeom prst="rect">
            <a:avLst/>
          </a:prstGeom>
        </p:spPr>
        <p:txBody>
          <a:bodyPr/>
          <a:lstStyle>
            <a:lvl1pPr>
              <a:defRPr sz="254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456" y="82928"/>
            <a:ext cx="1446703" cy="488331"/>
          </a:xfrm>
          <a:prstGeom prst="rect">
            <a:avLst/>
          </a:prstGeom>
        </p:spPr>
      </p:pic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8108AD2-2AEF-4205-8507-D363543BA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480" y="6667772"/>
            <a:ext cx="2843905" cy="21504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47" b="0">
                <a:solidFill>
                  <a:schemeClr val="bg1"/>
                </a:solidFill>
                <a:ea typeface="黑体" pitchFamily="49" charset="-122"/>
              </a:defRPr>
            </a:lvl1pPr>
          </a:lstStyle>
          <a:p>
            <a:pPr eaLnBrk="0" hangingPunct="0">
              <a:defRPr/>
            </a:pPr>
            <a:fld id="{B4B9AA9C-3EDF-4BE8-A192-5BD99696B376}" type="slidenum">
              <a:rPr lang="zh-CN" altLang="en-US" smtClean="0">
                <a:solidFill>
                  <a:prstClr val="white"/>
                </a:solidFill>
              </a:rPr>
              <a:pPr eaLnBrk="0" hangingPunct="0">
                <a:defRPr/>
              </a:pPr>
              <a:t>‹#›</a:t>
            </a:fld>
            <a:endParaRPr lang="zh-CN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2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>
          <p15:clr>
            <a:srgbClr val="FBAE40"/>
          </p15:clr>
        </p15:guide>
        <p15:guide id="2" pos="36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115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11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11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11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11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83870" algn="r" rtl="0" fontAlgn="base">
        <a:spcBef>
          <a:spcPct val="0"/>
        </a:spcBef>
        <a:spcAft>
          <a:spcPct val="0"/>
        </a:spcAft>
        <a:defRPr sz="296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67740" algn="r" rtl="0" fontAlgn="base">
        <a:spcBef>
          <a:spcPct val="0"/>
        </a:spcBef>
        <a:spcAft>
          <a:spcPct val="0"/>
        </a:spcAft>
        <a:defRPr sz="296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450975" algn="r" rtl="0" fontAlgn="base">
        <a:spcBef>
          <a:spcPct val="0"/>
        </a:spcBef>
        <a:spcAft>
          <a:spcPct val="0"/>
        </a:spcAft>
        <a:defRPr sz="296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934845" algn="r" rtl="0" fontAlgn="base">
        <a:spcBef>
          <a:spcPct val="0"/>
        </a:spcBef>
        <a:spcAft>
          <a:spcPct val="0"/>
        </a:spcAft>
        <a:defRPr sz="2965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62585" indent="-362585" algn="l" rtl="0" eaLnBrk="0" fontAlgn="base" hangingPunct="0">
        <a:spcBef>
          <a:spcPct val="20000"/>
        </a:spcBef>
        <a:spcAft>
          <a:spcPct val="0"/>
        </a:spcAft>
        <a:buClr>
          <a:srgbClr val="2A79C0"/>
        </a:buClr>
        <a:buSzPct val="80000"/>
        <a:buFont typeface="Wingdings" panose="05000000000000000000" pitchFamily="2" charset="2"/>
        <a:buChar char="n"/>
        <a:defRPr sz="254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86130" indent="-302260" algn="l" rtl="0" eaLnBrk="0" fontAlgn="base" hangingPunct="0">
        <a:spcBef>
          <a:spcPct val="20000"/>
        </a:spcBef>
        <a:spcAft>
          <a:spcPct val="0"/>
        </a:spcAft>
        <a:buClr>
          <a:srgbClr val="00B3F2"/>
        </a:buClr>
        <a:buSzPct val="70000"/>
        <a:buFont typeface="Wingdings" panose="05000000000000000000" pitchFamily="2" charset="2"/>
        <a:buChar char="u"/>
        <a:defRPr sz="254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9675" indent="-241935" algn="l" rtl="0" eaLnBrk="0" fontAlgn="base" hangingPunct="0">
        <a:spcBef>
          <a:spcPct val="20000"/>
        </a:spcBef>
        <a:spcAft>
          <a:spcPct val="0"/>
        </a:spcAft>
        <a:buClr>
          <a:srgbClr val="5DD5FF"/>
        </a:buClr>
        <a:buSzPct val="70000"/>
        <a:buFont typeface="Wingdings" panose="05000000000000000000" pitchFamily="2" charset="2"/>
        <a:buChar char="p"/>
        <a:defRPr sz="211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92910" indent="-241935" algn="l" rtl="0" eaLnBrk="0" fontAlgn="base" hangingPunct="0">
        <a:spcBef>
          <a:spcPct val="20000"/>
        </a:spcBef>
        <a:spcAft>
          <a:spcPct val="0"/>
        </a:spcAft>
        <a:buClr>
          <a:srgbClr val="C1EFFF"/>
        </a:buClr>
        <a:buFont typeface="微软雅黑" panose="020B0503020204020204" pitchFamily="34" charset="-122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76780" indent="-241935" algn="l" rtl="0" eaLnBrk="0" fontAlgn="base" hangingPunct="0">
        <a:spcBef>
          <a:spcPct val="20000"/>
        </a:spcBef>
        <a:spcAft>
          <a:spcPct val="0"/>
        </a:spcAft>
        <a:buClr>
          <a:srgbClr val="C1EFFF"/>
        </a:buClr>
        <a:buFont typeface="微软雅黑" panose="020B0503020204020204" pitchFamily="34" charset="-122"/>
        <a:buChar char="○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6065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6pPr>
      <a:lvl7pPr marL="314452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7pPr>
      <a:lvl8pPr marL="362839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8pPr>
      <a:lvl9pPr marL="4112260" indent="-241935" algn="l" defTabSz="967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097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484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871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258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45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32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9E9C-777D-BA17-A8C7-D8CE9A99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タイトル 53">
            <a:extLst>
              <a:ext uri="{FF2B5EF4-FFF2-40B4-BE49-F238E27FC236}">
                <a16:creationId xmlns:a16="http://schemas.microsoft.com/office/drawing/2014/main" id="{0B5447A2-243A-454D-B7F9-8726563C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信華信の</a:t>
            </a:r>
            <a:r>
              <a:rPr lang="en-US" altLang="ja-JP" dirty="0"/>
              <a:t>SAP</a:t>
            </a:r>
            <a:r>
              <a:rPr lang="ja-JP" altLang="en-US" dirty="0"/>
              <a:t>能力：</a:t>
            </a:r>
            <a:r>
              <a:rPr lang="en-US" altLang="ja-JP" dirty="0"/>
              <a:t>BTP</a:t>
            </a:r>
            <a:r>
              <a:rPr lang="ja-JP" altLang="en-US" dirty="0"/>
              <a:t>能力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C472F-AFEA-7316-DA8C-BB6E331A8D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638" y="2660612"/>
            <a:ext cx="6813309" cy="3288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7FABE2-4B25-4A19-30B4-3AC08E7E0ED6}"/>
              </a:ext>
            </a:extLst>
          </p:cNvPr>
          <p:cNvSpPr/>
          <p:nvPr/>
        </p:nvSpPr>
        <p:spPr>
          <a:xfrm>
            <a:off x="5781440" y="4249261"/>
            <a:ext cx="1440000" cy="1219977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1C371-FC97-9376-5654-70F47A464AAB}"/>
              </a:ext>
            </a:extLst>
          </p:cNvPr>
          <p:cNvSpPr/>
          <p:nvPr/>
        </p:nvSpPr>
        <p:spPr>
          <a:xfrm>
            <a:off x="7221440" y="5502611"/>
            <a:ext cx="734257" cy="296118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5FEF49-34E7-22F3-601A-24A59EC08784}"/>
              </a:ext>
            </a:extLst>
          </p:cNvPr>
          <p:cNvSpPr/>
          <p:nvPr/>
        </p:nvSpPr>
        <p:spPr>
          <a:xfrm>
            <a:off x="7221770" y="5041857"/>
            <a:ext cx="2914860" cy="463406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7004E9-2E9A-7838-C66E-8F24F3709F48}"/>
              </a:ext>
            </a:extLst>
          </p:cNvPr>
          <p:cNvSpPr/>
          <p:nvPr/>
        </p:nvSpPr>
        <p:spPr>
          <a:xfrm>
            <a:off x="7221440" y="4249261"/>
            <a:ext cx="2914860" cy="429680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8107E-9581-4669-756A-E5348BFF7B62}"/>
              </a:ext>
            </a:extLst>
          </p:cNvPr>
          <p:cNvSpPr/>
          <p:nvPr/>
        </p:nvSpPr>
        <p:spPr>
          <a:xfrm>
            <a:off x="8906934" y="5502813"/>
            <a:ext cx="1229365" cy="302934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BC5E4A-7E06-F6F0-BBF8-0014396564AA}"/>
              </a:ext>
            </a:extLst>
          </p:cNvPr>
          <p:cNvSpPr/>
          <p:nvPr/>
        </p:nvSpPr>
        <p:spPr bwMode="auto">
          <a:xfrm>
            <a:off x="575298" y="1061209"/>
            <a:ext cx="3601225" cy="2798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72000" tIns="36000" rIns="72000" bIns="36000" rtlCol="0" anchor="ctr"/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App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Dev 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＆ 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Automation</a:t>
            </a:r>
            <a:endParaRPr kumimoji="1" lang="en-CN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E57F5-5FA9-1CCF-35CD-84ECF6AE823B}"/>
              </a:ext>
            </a:extLst>
          </p:cNvPr>
          <p:cNvSpPr/>
          <p:nvPr/>
        </p:nvSpPr>
        <p:spPr>
          <a:xfrm>
            <a:off x="9432652" y="2743095"/>
            <a:ext cx="1584176" cy="221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凡例：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1666E7-EF8C-E831-6F9C-F7FBA9CA5123}"/>
              </a:ext>
            </a:extLst>
          </p:cNvPr>
          <p:cNvSpPr/>
          <p:nvPr/>
        </p:nvSpPr>
        <p:spPr>
          <a:xfrm>
            <a:off x="9866761" y="2781079"/>
            <a:ext cx="516173" cy="138416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実績有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019B9C-DA09-8073-D0DE-96E34B6AE094}"/>
              </a:ext>
            </a:extLst>
          </p:cNvPr>
          <p:cNvSpPr/>
          <p:nvPr/>
        </p:nvSpPr>
        <p:spPr>
          <a:xfrm>
            <a:off x="10440764" y="2781079"/>
            <a:ext cx="516173" cy="138416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取込予定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3139A-0FAB-B3DF-23DA-3965BFCFF0FB}"/>
              </a:ext>
            </a:extLst>
          </p:cNvPr>
          <p:cNvSpPr/>
          <p:nvPr/>
        </p:nvSpPr>
        <p:spPr>
          <a:xfrm>
            <a:off x="6322146" y="5469239"/>
            <a:ext cx="899624" cy="329834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0FFF31-2AA1-6C69-9B06-63EDF1FFF4CA}"/>
              </a:ext>
            </a:extLst>
          </p:cNvPr>
          <p:cNvSpPr/>
          <p:nvPr/>
        </p:nvSpPr>
        <p:spPr bwMode="auto">
          <a:xfrm>
            <a:off x="822989" y="3972703"/>
            <a:ext cx="3276494" cy="719034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2000+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人月規模のプロジェクト経験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大規模案件での設計・開発・導入経験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お客様と共同で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BTP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能力を構築した実績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76DB71-AB21-A079-1C9B-9083AFDEBC44}"/>
              </a:ext>
            </a:extLst>
          </p:cNvPr>
          <p:cNvSpPr/>
          <p:nvPr/>
        </p:nvSpPr>
        <p:spPr>
          <a:xfrm>
            <a:off x="7848476" y="4718249"/>
            <a:ext cx="1944216" cy="288000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0E1322-F7DE-2B88-8878-A3EF207BCB8F}"/>
              </a:ext>
            </a:extLst>
          </p:cNvPr>
          <p:cNvSpPr/>
          <p:nvPr/>
        </p:nvSpPr>
        <p:spPr>
          <a:xfrm>
            <a:off x="6333375" y="3790500"/>
            <a:ext cx="1083053" cy="288000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5" name="スライド番号プレースホルダー 3">
            <a:extLst>
              <a:ext uri="{FF2B5EF4-FFF2-40B4-BE49-F238E27FC236}">
                <a16:creationId xmlns:a16="http://schemas.microsoft.com/office/drawing/2014/main" id="{4B49EC37-A5CF-4D4E-B27E-6B6AD1D75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12691" y="6670287"/>
            <a:ext cx="2843862" cy="215044"/>
          </a:xfrm>
        </p:spPr>
        <p:txBody>
          <a:bodyPr/>
          <a:lstStyle/>
          <a:p>
            <a:pPr>
              <a:defRPr/>
            </a:pPr>
            <a:fld id="{E9802D64-9A86-452C-A0FC-7ED77236748B}" type="slidenum">
              <a:rPr lang="zh-CN" altLang="en-US" smtClean="0">
                <a:latin typeface="Meiryo UI" panose="020B0604030504040204" pitchFamily="34" charset="-128"/>
                <a:ea typeface="Meiryo UI" panose="020B0604030504040204" pitchFamily="34" charset="-128"/>
              </a:rPr>
              <a:t>0</a:t>
            </a:fld>
            <a:endParaRPr lang="zh-CN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56" name="Chart 13">
            <a:extLst>
              <a:ext uri="{FF2B5EF4-FFF2-40B4-BE49-F238E27FC236}">
                <a16:creationId xmlns:a16="http://schemas.microsoft.com/office/drawing/2014/main" id="{2DAF9575-947F-4526-96DF-93EE8A97A2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000646"/>
              </p:ext>
            </p:extLst>
          </p:nvPr>
        </p:nvGraphicFramePr>
        <p:xfrm>
          <a:off x="4276035" y="1067740"/>
          <a:ext cx="2265694" cy="148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7" name="Chart 14">
            <a:extLst>
              <a:ext uri="{FF2B5EF4-FFF2-40B4-BE49-F238E27FC236}">
                <a16:creationId xmlns:a16="http://schemas.microsoft.com/office/drawing/2014/main" id="{0362CA98-ED32-4FF5-AD97-810B9169FC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3903645"/>
              </p:ext>
            </p:extLst>
          </p:nvPr>
        </p:nvGraphicFramePr>
        <p:xfrm>
          <a:off x="6641240" y="1068392"/>
          <a:ext cx="2265694" cy="148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8" name="Chart 15">
            <a:extLst>
              <a:ext uri="{FF2B5EF4-FFF2-40B4-BE49-F238E27FC236}">
                <a16:creationId xmlns:a16="http://schemas.microsoft.com/office/drawing/2014/main" id="{50B2D0C8-8619-49E0-9155-F5F7A74A11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189928"/>
              </p:ext>
            </p:extLst>
          </p:nvPr>
        </p:nvGraphicFramePr>
        <p:xfrm>
          <a:off x="9059145" y="1057237"/>
          <a:ext cx="2040802" cy="148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3" name="Rectangle 20">
            <a:extLst>
              <a:ext uri="{FF2B5EF4-FFF2-40B4-BE49-F238E27FC236}">
                <a16:creationId xmlns:a16="http://schemas.microsoft.com/office/drawing/2014/main" id="{B77B844E-1EC2-401B-B353-D3B0CB35A271}"/>
              </a:ext>
            </a:extLst>
          </p:cNvPr>
          <p:cNvSpPr/>
          <p:nvPr/>
        </p:nvSpPr>
        <p:spPr bwMode="auto">
          <a:xfrm>
            <a:off x="691892" y="3690502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kumimoji="1"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プロジェクト実績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3F82F528-5AD4-4DD7-A6D2-18ADA0CC9B28}"/>
              </a:ext>
            </a:extLst>
          </p:cNvPr>
          <p:cNvSpPr/>
          <p:nvPr/>
        </p:nvSpPr>
        <p:spPr bwMode="auto">
          <a:xfrm>
            <a:off x="691892" y="4834900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kumimoji="1"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開発標準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63DF985D-4C65-4142-B3C3-83A819641EA4}"/>
              </a:ext>
            </a:extLst>
          </p:cNvPr>
          <p:cNvSpPr/>
          <p:nvPr/>
        </p:nvSpPr>
        <p:spPr bwMode="auto">
          <a:xfrm>
            <a:off x="822989" y="5136889"/>
            <a:ext cx="3276494" cy="50359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設計・開発ガイドライン、コーディング規約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成果物テンプレート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97924E6C-777F-4809-9577-BBE093A896DC}"/>
              </a:ext>
            </a:extLst>
          </p:cNvPr>
          <p:cNvSpPr/>
          <p:nvPr/>
        </p:nvSpPr>
        <p:spPr>
          <a:xfrm>
            <a:off x="574967" y="1342132"/>
            <a:ext cx="3601555" cy="4607147"/>
          </a:xfrm>
          <a:prstGeom prst="roundRect">
            <a:avLst>
              <a:gd name="adj" fmla="val 0"/>
            </a:avLst>
          </a:prstGeom>
          <a:noFill/>
          <a:ln w="63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4B3C51FD-F8AE-4E07-8CA2-43BB3F0D0D56}"/>
              </a:ext>
            </a:extLst>
          </p:cNvPr>
          <p:cNvSpPr/>
          <p:nvPr/>
        </p:nvSpPr>
        <p:spPr bwMode="auto">
          <a:xfrm>
            <a:off x="679185" y="1406294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kumimoji="1"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フルスタック開発能力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C615EA86-AD7F-4EF0-B506-99D6461AC561}"/>
              </a:ext>
            </a:extLst>
          </p:cNvPr>
          <p:cNvSpPr/>
          <p:nvPr/>
        </p:nvSpPr>
        <p:spPr bwMode="auto">
          <a:xfrm>
            <a:off x="830265" y="1711917"/>
            <a:ext cx="3276494" cy="28814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Backend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5259729-5581-4CEB-A68A-625C08BEFA81}"/>
              </a:ext>
            </a:extLst>
          </p:cNvPr>
          <p:cNvSpPr/>
          <p:nvPr/>
        </p:nvSpPr>
        <p:spPr bwMode="auto">
          <a:xfrm>
            <a:off x="941958" y="2008724"/>
            <a:ext cx="3276494" cy="93447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CAP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Node.js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／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Java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ABAP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ODataAPI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D9DA25B9-5586-401D-8642-5C2866440ED2}"/>
              </a:ext>
            </a:extLst>
          </p:cNvPr>
          <p:cNvSpPr/>
          <p:nvPr/>
        </p:nvSpPr>
        <p:spPr bwMode="auto">
          <a:xfrm>
            <a:off x="822989" y="2733145"/>
            <a:ext cx="3276494" cy="28814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Frontend</a:t>
            </a: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DA2FB49A-188C-425D-9687-BC2043228D00}"/>
              </a:ext>
            </a:extLst>
          </p:cNvPr>
          <p:cNvSpPr/>
          <p:nvPr/>
        </p:nvSpPr>
        <p:spPr bwMode="auto">
          <a:xfrm>
            <a:off x="947298" y="3023961"/>
            <a:ext cx="3276494" cy="50359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UI5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Fiori Elements</a:t>
            </a:r>
          </a:p>
        </p:txBody>
      </p:sp>
      <p:sp>
        <p:nvSpPr>
          <p:cNvPr id="33" name="正方形/長方形 7">
            <a:extLst>
              <a:ext uri="{FF2B5EF4-FFF2-40B4-BE49-F238E27FC236}">
                <a16:creationId xmlns:a16="http://schemas.microsoft.com/office/drawing/2014/main" id="{3F91F7CF-CAE2-4BA1-8D9A-963C119D4E08}"/>
              </a:ext>
            </a:extLst>
          </p:cNvPr>
          <p:cNvSpPr/>
          <p:nvPr/>
        </p:nvSpPr>
        <p:spPr>
          <a:xfrm>
            <a:off x="745744" y="6206341"/>
            <a:ext cx="1088328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フルスタック開発力・大規模プロジェクト経験・標準化された開発方法論を備えた</a:t>
            </a:r>
            <a:r>
              <a:rPr lang="en-US" altLang="ja-JP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SAP BTP</a:t>
            </a:r>
            <a:r>
              <a:rPr lang="ja-JP" altLang="en-US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開発チーム</a:t>
            </a:r>
            <a:endParaRPr lang="en-US" altLang="ja-JP" sz="1900" dirty="0">
              <a:solidFill>
                <a:srgbClr val="1C41AC"/>
              </a:solidFill>
              <a:latin typeface="Meiryo UI" pitchFamily="34" charset="-128"/>
              <a:ea typeface="Meiryo UI" pitchFamily="34" charset="-128"/>
              <a:sym typeface="+mn-ea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574BAB-F378-404F-BB6E-AC917025E5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1" y="6144456"/>
            <a:ext cx="464662" cy="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3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92"/>
    </mc:Choice>
    <mc:Fallback xmlns="">
      <p:transition spd="slow" advTm="795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F111-E2F6-3711-B186-07A637A6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 53">
            <a:extLst>
              <a:ext uri="{FF2B5EF4-FFF2-40B4-BE49-F238E27FC236}">
                <a16:creationId xmlns:a16="http://schemas.microsoft.com/office/drawing/2014/main" id="{7FDC6842-9C13-40AD-9DD1-3B918F63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信華信の</a:t>
            </a:r>
            <a:r>
              <a:rPr lang="en-US" altLang="ja-JP" dirty="0"/>
              <a:t>SAP</a:t>
            </a:r>
            <a:r>
              <a:rPr lang="ja-JP" altLang="en-US" dirty="0"/>
              <a:t>能力：</a:t>
            </a:r>
            <a:r>
              <a:rPr lang="en-US" altLang="ja-JP" dirty="0"/>
              <a:t>BTP</a:t>
            </a:r>
            <a:r>
              <a:rPr lang="ja-JP" altLang="en-US" dirty="0"/>
              <a:t>能力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BB456-490A-1085-82C6-70E04F866E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781" y="2655637"/>
            <a:ext cx="6881269" cy="3272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3F4429-3F50-9985-4413-29CFEA12BFC2}"/>
              </a:ext>
            </a:extLst>
          </p:cNvPr>
          <p:cNvSpPr/>
          <p:nvPr/>
        </p:nvSpPr>
        <p:spPr>
          <a:xfrm>
            <a:off x="5720942" y="3934114"/>
            <a:ext cx="960549" cy="359778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BEC4F25-48F5-8E3F-1FEB-23916F3FDF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689425"/>
              </p:ext>
            </p:extLst>
          </p:nvPr>
        </p:nvGraphicFramePr>
        <p:xfrm>
          <a:off x="4271781" y="1061209"/>
          <a:ext cx="2265694" cy="148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7795F50-1ECA-040B-5BE8-83595A3AF136}"/>
              </a:ext>
            </a:extLst>
          </p:cNvPr>
          <p:cNvSpPr/>
          <p:nvPr/>
        </p:nvSpPr>
        <p:spPr>
          <a:xfrm>
            <a:off x="7617595" y="2675827"/>
            <a:ext cx="1584176" cy="221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凡例：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60308A-1E49-7F5A-DE02-328FDFB83D96}"/>
              </a:ext>
            </a:extLst>
          </p:cNvPr>
          <p:cNvSpPr/>
          <p:nvPr/>
        </p:nvSpPr>
        <p:spPr>
          <a:xfrm>
            <a:off x="8051704" y="2713811"/>
            <a:ext cx="516173" cy="138416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実績有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FACCBC-08DC-F7D1-4AC2-4F531CF10E01}"/>
              </a:ext>
            </a:extLst>
          </p:cNvPr>
          <p:cNvSpPr/>
          <p:nvPr/>
        </p:nvSpPr>
        <p:spPr>
          <a:xfrm>
            <a:off x="8625707" y="2713811"/>
            <a:ext cx="516173" cy="138416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取込予定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32C32E-F27F-13FB-88D1-DBD0BFF967DC}"/>
              </a:ext>
            </a:extLst>
          </p:cNvPr>
          <p:cNvSpPr/>
          <p:nvPr/>
        </p:nvSpPr>
        <p:spPr>
          <a:xfrm>
            <a:off x="6515201" y="4294535"/>
            <a:ext cx="1197214" cy="447634"/>
          </a:xfrm>
          <a:prstGeom prst="rect">
            <a:avLst/>
          </a:prstGeom>
          <a:solidFill>
            <a:schemeClr val="accent6">
              <a:lumMod val="20000"/>
              <a:lumOff val="80000"/>
              <a:alpha val="41364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6D044-46EE-F8A8-8E9D-9D9A32F2750E}"/>
              </a:ext>
            </a:extLst>
          </p:cNvPr>
          <p:cNvSpPr/>
          <p:nvPr/>
        </p:nvSpPr>
        <p:spPr>
          <a:xfrm>
            <a:off x="5505285" y="4374638"/>
            <a:ext cx="782796" cy="367531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49A3F-8C5C-3D7F-A05F-C940B01EBA7F}"/>
              </a:ext>
            </a:extLst>
          </p:cNvPr>
          <p:cNvSpPr/>
          <p:nvPr/>
        </p:nvSpPr>
        <p:spPr>
          <a:xfrm>
            <a:off x="5745565" y="4801803"/>
            <a:ext cx="1295966" cy="367531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12F61F-A36D-C5E9-55E6-F5AC8A7B953E}"/>
              </a:ext>
            </a:extLst>
          </p:cNvPr>
          <p:cNvSpPr/>
          <p:nvPr/>
        </p:nvSpPr>
        <p:spPr>
          <a:xfrm>
            <a:off x="8021553" y="4354615"/>
            <a:ext cx="1036202" cy="367531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309E6F-4BAD-32E5-DFE6-D19A74359ED7}"/>
              </a:ext>
            </a:extLst>
          </p:cNvPr>
          <p:cNvSpPr/>
          <p:nvPr/>
        </p:nvSpPr>
        <p:spPr>
          <a:xfrm>
            <a:off x="7440875" y="3927451"/>
            <a:ext cx="1425984" cy="359778"/>
          </a:xfrm>
          <a:prstGeom prst="rect">
            <a:avLst/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6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2" name="スライド番号プレースホルダー 3">
            <a:extLst>
              <a:ext uri="{FF2B5EF4-FFF2-40B4-BE49-F238E27FC236}">
                <a16:creationId xmlns:a16="http://schemas.microsoft.com/office/drawing/2014/main" id="{D8E23BCE-A221-4369-8753-3C80FFBCC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12691" y="6670287"/>
            <a:ext cx="2843862" cy="215044"/>
          </a:xfrm>
        </p:spPr>
        <p:txBody>
          <a:bodyPr/>
          <a:lstStyle/>
          <a:p>
            <a:pPr>
              <a:defRPr/>
            </a:pPr>
            <a:fld id="{E9802D64-9A86-452C-A0FC-7ED77236748B}" type="slidenum">
              <a:rPr lang="zh-CN" altLang="en-US" smtClean="0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fld>
            <a:endParaRPr lang="zh-CN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54" name="Chart 14">
            <a:extLst>
              <a:ext uri="{FF2B5EF4-FFF2-40B4-BE49-F238E27FC236}">
                <a16:creationId xmlns:a16="http://schemas.microsoft.com/office/drawing/2014/main" id="{223666A7-13F0-46AF-8307-B22605BB0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3839993"/>
              </p:ext>
            </p:extLst>
          </p:nvPr>
        </p:nvGraphicFramePr>
        <p:xfrm>
          <a:off x="6626383" y="1069188"/>
          <a:ext cx="2265694" cy="148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5" name="Chart 15">
            <a:extLst>
              <a:ext uri="{FF2B5EF4-FFF2-40B4-BE49-F238E27FC236}">
                <a16:creationId xmlns:a16="http://schemas.microsoft.com/office/drawing/2014/main" id="{E595C8D5-CCC0-4674-A6F9-8F943316FA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451000"/>
              </p:ext>
            </p:extLst>
          </p:nvPr>
        </p:nvGraphicFramePr>
        <p:xfrm>
          <a:off x="9011944" y="1069188"/>
          <a:ext cx="2141106" cy="148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Rectangle 11">
            <a:extLst>
              <a:ext uri="{FF2B5EF4-FFF2-40B4-BE49-F238E27FC236}">
                <a16:creationId xmlns:a16="http://schemas.microsoft.com/office/drawing/2014/main" id="{141F89F5-DFF6-46A1-8F04-FC3C559C7CFF}"/>
              </a:ext>
            </a:extLst>
          </p:cNvPr>
          <p:cNvSpPr/>
          <p:nvPr/>
        </p:nvSpPr>
        <p:spPr bwMode="auto">
          <a:xfrm>
            <a:off x="575298" y="1061209"/>
            <a:ext cx="3601225" cy="2798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72000" tIns="36000" rIns="72000" bIns="36000" rtlCol="0" anchor="ctr"/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Integration Suite</a:t>
            </a:r>
            <a:endParaRPr kumimoji="1" lang="en-CN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AAF2ABCA-4CF8-4D75-8AF8-0BA17EB561F8}"/>
              </a:ext>
            </a:extLst>
          </p:cNvPr>
          <p:cNvSpPr/>
          <p:nvPr/>
        </p:nvSpPr>
        <p:spPr bwMode="auto">
          <a:xfrm>
            <a:off x="830265" y="3452187"/>
            <a:ext cx="3276494" cy="93447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iFlow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メッセージマッピング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SAP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／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NonSAP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09B5E55D-C883-4392-A218-7D48BCFE4E9C}"/>
              </a:ext>
            </a:extLst>
          </p:cNvPr>
          <p:cNvSpPr/>
          <p:nvPr/>
        </p:nvSpPr>
        <p:spPr bwMode="auto">
          <a:xfrm>
            <a:off x="679185" y="3144811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lang="en-US" altLang="ja-JP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iFlow</a:t>
            </a:r>
            <a:r>
              <a:rPr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設計開発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3248AC7D-F2B7-43E1-BBF7-CAD0A4F457A0}"/>
              </a:ext>
            </a:extLst>
          </p:cNvPr>
          <p:cNvSpPr/>
          <p:nvPr/>
        </p:nvSpPr>
        <p:spPr>
          <a:xfrm>
            <a:off x="574967" y="1342132"/>
            <a:ext cx="3601555" cy="4607147"/>
          </a:xfrm>
          <a:prstGeom prst="roundRect">
            <a:avLst>
              <a:gd name="adj" fmla="val 0"/>
            </a:avLst>
          </a:prstGeom>
          <a:noFill/>
          <a:ln w="63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0EF76C9F-0A3A-44B3-B8DD-CB8CDAC42550}"/>
              </a:ext>
            </a:extLst>
          </p:cNvPr>
          <p:cNvSpPr/>
          <p:nvPr/>
        </p:nvSpPr>
        <p:spPr bwMode="auto">
          <a:xfrm>
            <a:off x="679185" y="1406294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kumimoji="1"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基盤構築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028C42F9-F220-4B52-95F1-1F7A95D7DA37}"/>
              </a:ext>
            </a:extLst>
          </p:cNvPr>
          <p:cNvSpPr/>
          <p:nvPr/>
        </p:nvSpPr>
        <p:spPr bwMode="auto">
          <a:xfrm>
            <a:off x="830265" y="1711917"/>
            <a:ext cx="3276494" cy="158080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BTP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サブアカウント設計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Integration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Suite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セットアップ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S/4HANA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On-Premise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OAuth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／</a:t>
            </a: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Certificate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en-US" altLang="ja-JP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Destination</a:t>
            </a: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正方形/長方形 7">
            <a:extLst>
              <a:ext uri="{FF2B5EF4-FFF2-40B4-BE49-F238E27FC236}">
                <a16:creationId xmlns:a16="http://schemas.microsoft.com/office/drawing/2014/main" id="{4AA41105-A03A-4858-81BE-0F03E652F626}"/>
              </a:ext>
            </a:extLst>
          </p:cNvPr>
          <p:cNvSpPr/>
          <p:nvPr/>
        </p:nvSpPr>
        <p:spPr>
          <a:xfrm>
            <a:off x="1055440" y="6206341"/>
            <a:ext cx="105735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ja-JP" altLang="en-US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基盤構築・</a:t>
            </a:r>
            <a:r>
              <a:rPr lang="en-US" altLang="ja-JP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iFlow</a:t>
            </a:r>
            <a:r>
              <a:rPr lang="ja-JP" altLang="en-US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開発・運用設計を包括的に提供する</a:t>
            </a:r>
            <a:r>
              <a:rPr lang="en-US" altLang="ja-JP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SAP Integration Suite</a:t>
            </a:r>
            <a:r>
              <a:rPr lang="ja-JP" altLang="en-US" sz="1900" dirty="0">
                <a:solidFill>
                  <a:srgbClr val="1C41AC"/>
                </a:solidFill>
                <a:latin typeface="Meiryo UI" pitchFamily="34" charset="-128"/>
                <a:ea typeface="Meiryo UI" pitchFamily="34" charset="-128"/>
              </a:rPr>
              <a:t>開発能力</a:t>
            </a:r>
            <a:endParaRPr lang="en-US" altLang="ja-JP" sz="1900" dirty="0">
              <a:solidFill>
                <a:srgbClr val="1C41AC"/>
              </a:solidFill>
              <a:latin typeface="Meiryo UI" pitchFamily="34" charset="-128"/>
              <a:ea typeface="Meiryo UI" pitchFamily="34" charset="-128"/>
              <a:sym typeface="+mn-ea"/>
            </a:endParaRPr>
          </a:p>
        </p:txBody>
      </p:sp>
      <p:sp>
        <p:nvSpPr>
          <p:cNvPr id="37" name="Rectangle 20">
            <a:extLst>
              <a:ext uri="{FF2B5EF4-FFF2-40B4-BE49-F238E27FC236}">
                <a16:creationId xmlns:a16="http://schemas.microsoft.com/office/drawing/2014/main" id="{9F6404C2-E01D-4977-B774-1046D8C19DBF}"/>
              </a:ext>
            </a:extLst>
          </p:cNvPr>
          <p:cNvSpPr/>
          <p:nvPr/>
        </p:nvSpPr>
        <p:spPr bwMode="auto">
          <a:xfrm>
            <a:off x="679185" y="4495823"/>
            <a:ext cx="3276494" cy="30353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71450" indent="-171450">
              <a:buFont typeface="Wingdings" pitchFamily="2" charset="2"/>
              <a:buChar char="q"/>
            </a:pPr>
            <a:r>
              <a:rPr lang="ja-JP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運用設計</a:t>
            </a:r>
            <a:endParaRPr kumimoji="1" lang="en-US" altLang="ja-JP" sz="15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Rectangle 20">
            <a:extLst>
              <a:ext uri="{FF2B5EF4-FFF2-40B4-BE49-F238E27FC236}">
                <a16:creationId xmlns:a16="http://schemas.microsoft.com/office/drawing/2014/main" id="{2933BBAD-B5BF-415B-A575-47D630CD4033}"/>
              </a:ext>
            </a:extLst>
          </p:cNvPr>
          <p:cNvSpPr/>
          <p:nvPr/>
        </p:nvSpPr>
        <p:spPr bwMode="auto">
          <a:xfrm>
            <a:off x="830265" y="4799359"/>
            <a:ext cx="3276494" cy="114992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rtlCol="0" anchor="t">
            <a:spAutoFit/>
          </a:bodyPr>
          <a:lstStyle/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モニタリング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エラー処理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再処理設計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ログ管理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1446" indent="-181446">
              <a:buFont typeface="Wingdings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運用手順書</a:t>
            </a:r>
            <a:endParaRPr lang="en-US" altLang="ja-JP" b="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C42DC77-10B5-44F3-A565-846CD80925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6110747"/>
            <a:ext cx="794613" cy="5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92"/>
    </mc:Choice>
    <mc:Fallback xmlns="">
      <p:transition spd="slow" advTm="7959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Q0MzU4NDdmNTRhMGMwODc5ZWJlMjA0NjRhZTgyMjU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9525">
          <a:noFill/>
          <a:miter lim="800000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2000" b="1" i="0" u="none" strike="noStrike" kern="1200" cap="none" spc="0" normalizeH="0" baseline="0" noProof="0" smtClean="0">
            <a:ln>
              <a:noFill/>
            </a:ln>
            <a:solidFill>
              <a:schemeClr val="bg1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暗香扑面">
    <a:majorFont>
      <a:latin typeface="Franklin Gothic Medium"/>
      <a:ea typeface=""/>
      <a:cs typeface=""/>
      <a:font script="Jpan" typeface="HG創英角ｺﾞｼｯｸUB"/>
      <a:font script="Hang" typeface="HY견고딕"/>
      <a:font script="Hans" typeface="微软雅黑"/>
      <a:font script="Hant" typeface="微軟正黑體"/>
      <a:font script="Arab" typeface="Arial Bold"/>
      <a:font script="Hebr" typeface="Arial Bold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 Bold"/>
      <a:font script="Uigh" typeface="Microsoft Uighur"/>
    </a:majorFont>
    <a:minorFont>
      <a:latin typeface="Franklin Gothic Book"/>
      <a:ea typeface=""/>
      <a:cs typeface=""/>
      <a:font script="Jpan" typeface="HG創英角ｺﾞｼｯｸUB"/>
      <a:font script="Hang" typeface="맑은 고딕"/>
      <a:font script="Hans" typeface="黑体"/>
      <a:font script="Hant" typeface="新細明體"/>
      <a:font script="Arab" typeface="Arial"/>
      <a:font script="Hebr" typeface="Arial"/>
      <a:font script="Thai" typeface="Cordian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7220</TotalTime>
  <Words>706</Words>
  <Application>Microsoft Office PowerPoint</Application>
  <PresentationFormat>ワイド画面</PresentationFormat>
  <Paragraphs>80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微软雅黑</vt:lpstr>
      <vt:lpstr>MS PGothic</vt:lpstr>
      <vt:lpstr>Arial</vt:lpstr>
      <vt:lpstr>Franklin Gothic Book</vt:lpstr>
      <vt:lpstr>Wingdings</vt:lpstr>
      <vt:lpstr>自定义设计方案</vt:lpstr>
      <vt:lpstr>信華信のSAP能力：BTP能力</vt:lpstr>
      <vt:lpstr>信華信のSAP能力：BTP能力</vt:lpstr>
    </vt:vector>
  </TitlesOfParts>
  <Company>DHC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提案書</dc:title>
  <dc:creator>DHC</dc:creator>
  <cp:lastModifiedBy>changnan huang</cp:lastModifiedBy>
  <cp:revision>4101</cp:revision>
  <cp:lastPrinted>2022-04-19T06:17:00Z</cp:lastPrinted>
  <dcterms:created xsi:type="dcterms:W3CDTF">2008-11-30T01:17:00Z</dcterms:created>
  <dcterms:modified xsi:type="dcterms:W3CDTF">2026-03-12T07:32:01Z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F63D9472EFC347408B2A109306285EB8</vt:lpwstr>
  </property>
  <property fmtid="{D5CDD505-2E9C-101B-9397-08002B2CF9AE}" pid="3" name="KSOProductBuildVer">
    <vt:lpwstr>2052-11.1.0.9021</vt:lpwstr>
  </property>
</Properties>
</file>